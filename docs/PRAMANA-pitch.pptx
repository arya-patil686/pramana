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91C1F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91C1F"/>
                </a:solidFill>
                <a:latin typeface="Calibri"/>
              </a:rPr>
              <a:t>Share of biomass-attributable load over Delhi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biomass load reaching Delhi (%)</c:v>
                </c:pt>
              </c:strCache>
            </c:strRef>
          </c:tx>
          <c:spPr>
            <a:solidFill>
              <a:srgbClr val="8A611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91C1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Firozpur</c:v>
                  </c:pt>
                  <c:pt idx="1">
                    <c:v>Faridabad</c:v>
                  </c:pt>
                  <c:pt idx="2">
                    <c:v>Patiala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61.8</c:v>
                </c:pt>
                <c:pt idx="1">
                  <c:v>17.4</c:v>
                </c:pt>
                <c:pt idx="2">
                  <c:v>15.5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91C1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91C1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b"/>
        <c:majorGridlines>
          <c:spPr>
            <a:ln w="6350" cap="flat">
              <a:solidFill>
                <a:srgbClr val="E4DDC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A8F9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line on screen. The problem is not measuring pollution — India measures it. The problem is that when Delhi chokes, nobody can prove whose smoke it is in a form the other state will accept. PRAMĀNA produces that proof.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figures came from the running system, not a report. AQI 317 is the worst CPCB station in Delhi when we pulled it. The data is plentiful; what is missing is attribution that survives a dispute between states, and warnings people can actually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failures, and PRAMĀNA answers each one. First, transport height: surface wind is the wrong layer. Second, reproducibility: an attribution the other side cannot re-run gets dismissed. Third, language: the warning has to reach the person in the field.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right. The key design choice: advisory, alert and certificate all read from one pipeline run, so they are three views of one computation rather than three documents that happen to agree.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bars are real output: the top sources the engine returned on 15 September, running live fire detections through the recorded 3 November wind field. Point out the honesty: it is a share of biomass smoke only. Then mention the contrast on the console — live mode reports that the corridor is barely open in September.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AI is doing meaningful work: vision on citizen photos and structured drafting of the advisory and the cross-state notice. Show the photo refusal live. And be explicit that we kept models out of attribution and sealing on purpose — that is what makes the finding defensible.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trust mechanism. Each leaf is the SHA-256 of the actual data consumed. Press Run verification on the certificate page: the browser recomputes the root and it matches. The point: the finding does not need to be believed, it can be checked.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audience gets a view of the same evidence. Regulators get the register and the notice. Magistrates get an actionable advisory. Citizens get warnings in their own language. Courts get something reproducible.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Deployability is mostly about what it does not need: no sensors, no new data-sharing agreements, no keys to start. Be upfront about the right-hand panel — five upstreams are live, while Translation, speech and Maps are wired but not keyed on this deployment.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 about scope: one corridor is built. Adding another is a receptor, a bounding box and a language list, not new code. The federation model is the long-term path: states keep their data and exchange certificates.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roadmap, being honest that validation comes first. Put the live link on screen and end with the last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AI: CODE FOR COMMUNITIES  ·  CLIMATE TRACK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PRAMĀNA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A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प्रमाण  ·  proof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4612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state already knows how bad its air is.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None can prove whose it is.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61772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8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Source–receptor attribution for cross-border air pollution — computed from live satellite, weather and CPCB data, sealed in a certificate the accused state can re-run.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235440" y="1600200"/>
            <a:ext cx="868680" cy="868680"/>
          </a:xfrm>
          <a:prstGeom prst="ellipse">
            <a:avLst/>
          </a:prstGeom>
          <a:solidFill>
            <a:srgbClr val="2B5F68"/>
          </a:solidFill>
          <a:ln w="12700">
            <a:solidFill>
              <a:srgbClr val="2B5F6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0" y="16002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0241280" y="180136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Sense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9235440" y="2926080"/>
            <a:ext cx="868680" cy="868680"/>
          </a:xfrm>
          <a:prstGeom prst="ellipse">
            <a:avLst/>
          </a:prstGeom>
          <a:solidFill>
            <a:srgbClr val="8A6114"/>
          </a:solidFill>
          <a:ln w="12700">
            <a:solidFill>
              <a:srgbClr val="8A611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235440" y="29260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0" y="312724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Attribute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235440" y="4251960"/>
            <a:ext cx="868680" cy="868680"/>
          </a:xfrm>
          <a:prstGeom prst="ellipse">
            <a:avLst/>
          </a:prstGeom>
          <a:solidFill>
            <a:srgbClr val="B8391F"/>
          </a:solidFill>
          <a:ln w="12700">
            <a:solidFill>
              <a:srgbClr val="B8391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440" y="42519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0" y="44531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Seal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61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91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winter, the same argument nobody can settle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34747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05740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B83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317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17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Delhi receptor AQI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0156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C5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live CPCB station (DTU), read by the system on 15 Sep 2026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97680" y="1874520"/>
            <a:ext cx="34747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72000" y="205740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B5F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3017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Delhi CPCB stations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340156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C5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in that same pull — the data exists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0" y="1874520"/>
            <a:ext cx="34747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321040" y="205740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8A61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228 km</a:t>
            </a:r>
            <a:endParaRPr lang="en-US" sz="48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017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Punjab → Delhi corridor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340156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C5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smoke crosses two state lines before it arrives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52628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91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Delhi blames upwind crop burning. Punjab and Haryana point at Delhi's own traffic and construction.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91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show how bad the air is — not whose it is, and not with a number another state can check.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91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Advisories go out in English on a portal, not in the languages people along the corridor speak.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9357055" y="64465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PRAMĀNA  · 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61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STAYS UNSOLVED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91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Measuring the wrong layer, and publishing numbers nobody can check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474720" cy="4160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148840"/>
            <a:ext cx="548640" cy="548640"/>
          </a:xfrm>
          <a:prstGeom prst="ellipse">
            <a:avLst/>
          </a:prstGeom>
          <a:solidFill>
            <a:srgbClr val="2B5F68"/>
          </a:solidFill>
          <a:ln w="12700">
            <a:solidFill>
              <a:srgbClr val="2B5F6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346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wind that carries smoke is not the wind stations measure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886200"/>
            <a:ext cx="29260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C5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 smoke rides the 925 hPa layer, about 750 m up. At night a temperature inversion decouples it from the ground, so the 10 m wind a monitoring station reports can point somewhere the smoke is not going.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97680" y="1920240"/>
            <a:ext cx="3474720" cy="4160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0" y="2148840"/>
            <a:ext cx="548640" cy="548640"/>
          </a:xfrm>
          <a:prstGeom prst="ellipse">
            <a:avLst/>
          </a:prstGeom>
          <a:solidFill>
            <a:srgbClr val="8A6114"/>
          </a:solidFill>
          <a:ln w="12700">
            <a:solidFill>
              <a:srgbClr val="8A611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8346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source share nobody can reproduce is just an opinion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3886200"/>
            <a:ext cx="29260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C5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Studies disagree, methods are unpublished, and the state being named has no way to re-run the finding. So every attribution becomes a negotiating position.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1920240"/>
            <a:ext cx="3474720" cy="4160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21040" y="2148840"/>
            <a:ext cx="548640" cy="548640"/>
          </a:xfrm>
          <a:prstGeom prst="ellipse">
            <a:avLst/>
          </a:prstGeom>
          <a:solidFill>
            <a:srgbClr val="B8391F"/>
          </a:solidFill>
          <a:ln w="12700">
            <a:solidFill>
              <a:srgbClr val="B8391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8346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Warnings that do not reach people are not warnings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3886200"/>
            <a:ext cx="29260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C5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Outdoor workers along the corridor read Punjabi, Hindi, Urdu — or do not read at all. An English web notice misses the people most exposed.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357055" y="64465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PRAMĀNA  · 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61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91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pipeline: from a fire in Punjab to a sealed finding and a spoken warning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260604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404872"/>
            <a:ext cx="640080" cy="640080"/>
          </a:xfrm>
          <a:prstGeom prst="ellipse">
            <a:avLst/>
          </a:prstGeom>
          <a:solidFill>
            <a:srgbClr val="2B5F68"/>
          </a:solidFill>
          <a:ln w="12700">
            <a:solidFill>
              <a:srgbClr val="2B5F6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4048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2004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5F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Sense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749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C5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 FIRMS fire detections, 925 hPa wind from Open-Meteo, CPCB stations via data.gov.in, and citizen sky photos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172968" y="3886200"/>
            <a:ext cx="201168" cy="274320"/>
          </a:xfrm>
          <a:prstGeom prst="rightArrow">
            <a:avLst/>
          </a:prstGeom>
          <a:solidFill>
            <a:srgbClr val="C9BFA8"/>
          </a:solidFill>
          <a:ln w="12700">
            <a:solidFill>
              <a:srgbClr val="C9BFA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92424" y="2148840"/>
            <a:ext cx="260604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21024" y="2404872"/>
            <a:ext cx="640080" cy="640080"/>
          </a:xfrm>
          <a:prstGeom prst="ellipse">
            <a:avLst/>
          </a:prstGeom>
          <a:solidFill>
            <a:srgbClr val="8A6114"/>
          </a:solidFill>
          <a:ln w="12700">
            <a:solidFill>
              <a:srgbClr val="8A611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21024" y="24048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621024" y="32004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A61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Attribute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3621024" y="3749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C5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forward Lagrangian puff model advects every fire on the real wind and credits each tehsil with the smoke that reaches Delhi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16752" y="3886200"/>
            <a:ext cx="201168" cy="274320"/>
          </a:xfrm>
          <a:prstGeom prst="rightArrow">
            <a:avLst/>
          </a:prstGeom>
          <a:solidFill>
            <a:srgbClr val="C9BFA8"/>
          </a:solidFill>
          <a:ln w="12700">
            <a:solidFill>
              <a:srgbClr val="C9BFA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36208" y="2148840"/>
            <a:ext cx="260604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64808" y="2404872"/>
            <a:ext cx="640080" cy="640080"/>
          </a:xfrm>
          <a:prstGeom prst="ellipse">
            <a:avLst/>
          </a:prstGeom>
          <a:solidFill>
            <a:srgbClr val="B8391F"/>
          </a:solidFill>
          <a:ln w="12700">
            <a:solidFill>
              <a:srgbClr val="B83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64808" y="24048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464808" y="32004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3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Seal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464808" y="3749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C5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and results are hashed into a Merkle certificate the named state can recompute bit for bit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860536" y="3886200"/>
            <a:ext cx="201168" cy="274320"/>
          </a:xfrm>
          <a:prstGeom prst="rightArrow">
            <a:avLst/>
          </a:prstGeom>
          <a:solidFill>
            <a:srgbClr val="C9BFA8"/>
          </a:solidFill>
          <a:ln w="12700">
            <a:solidFill>
              <a:srgbClr val="C9BFA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079992" y="2148840"/>
            <a:ext cx="260604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308592" y="2404872"/>
            <a:ext cx="640080" cy="640080"/>
          </a:xfrm>
          <a:prstGeom prst="ellipse">
            <a:avLst/>
          </a:prstGeom>
          <a:solidFill>
            <a:srgbClr val="191C1F"/>
          </a:solidFill>
          <a:ln w="12700">
            <a:solidFill>
              <a:srgbClr val="191C1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308592" y="24048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9308592" y="32004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9308592" y="3749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C5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drafts the operator advisory and the cross-state notice; the public gets instructions in 12 languages, read aloud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89788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C5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at /console, /report, /advisory and /certificate — the same run feeds all four, so the advisory, the notice and the certificate cannot disagree.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9357055" y="64465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PRAMĀNA  · 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61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MODEL PRODUCES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91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register of upwind tehsils, with confidence bands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667512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777240" y="1965960"/>
          <a:ext cx="621792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589520" y="1874520"/>
            <a:ext cx="384048" cy="384048"/>
          </a:xfrm>
          <a:prstGeom prst="ellipse">
            <a:avLst/>
          </a:prstGeom>
          <a:solidFill>
            <a:srgbClr val="2B5F68"/>
          </a:solidFill>
          <a:ln w="12700">
            <a:solidFill>
              <a:srgbClr val="2B5F6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58952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18288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Computed, not recalled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2212848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C5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sources from one engine run on 15 Sep 2026 inputs, on the recorded 3 Nov wind field.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589520" y="3337560"/>
            <a:ext cx="384048" cy="384048"/>
          </a:xfrm>
          <a:prstGeom prst="ellipse">
            <a:avLst/>
          </a:prstGeom>
          <a:solidFill>
            <a:srgbClr val="B8391F"/>
          </a:solidFill>
          <a:ln w="12700">
            <a:solidFill>
              <a:srgbClr val="B8391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589520" y="3337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138160" y="32918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about its limits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8138160" y="3675888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C5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satellite sees crop fires, not traffic or industry. These are shares of the biomass load, and the page says so.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589520" y="4800600"/>
            <a:ext cx="384048" cy="384048"/>
          </a:xfrm>
          <a:prstGeom prst="ellipse">
            <a:avLst/>
          </a:prstGeom>
          <a:solidFill>
            <a:srgbClr val="191C1F"/>
          </a:solidFill>
          <a:ln w="12700">
            <a:solidFill>
              <a:srgbClr val="191C1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589520" y="4800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47548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mode says when nothing arrives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138160" y="5138928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C5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today's September wind, little of Punjab's burning reaches Delhi — and the console reports exactly that.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9357055" y="64465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PRAMĀNA  · 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61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APPROACH · GOOGLE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91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Gemini where a model helps — never where proof must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676656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212848"/>
            <a:ext cx="548640" cy="548640"/>
          </a:xfrm>
          <a:prstGeom prst="ellipse">
            <a:avLst/>
          </a:prstGeom>
          <a:solidFill>
            <a:srgbClr val="2B5F68"/>
          </a:solidFill>
          <a:ln w="12700">
            <a:solidFill>
              <a:srgbClr val="2B5F6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2128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96596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multimodal vision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331720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C5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 citizen's sky photo into a bounded AQI band, visibility and likely source — with caveats. Refuses screenshots and graphics outright. One lone report is capped at 0.35 of the model's confidence until neighbours corroborate it.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310128"/>
            <a:ext cx="676656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3694176"/>
            <a:ext cx="548640" cy="548640"/>
          </a:xfrm>
          <a:prstGeom prst="ellipse">
            <a:avLst/>
          </a:prstGeom>
          <a:solidFill>
            <a:srgbClr val="2B5F68"/>
          </a:solidFill>
          <a:ln w="12700">
            <a:solidFill>
              <a:srgbClr val="2B5F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6941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47288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structured reasoning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3813048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C5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the operator advisory and the notice to the named state, as schema-constrained JSON from the computed register — not free text.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791456"/>
            <a:ext cx="676656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5175504"/>
            <a:ext cx="548640" cy="548640"/>
          </a:xfrm>
          <a:prstGeom prst="ellipse">
            <a:avLst/>
          </a:prstGeom>
          <a:solidFill>
            <a:srgbClr val="2B5F68"/>
          </a:solidFill>
          <a:ln w="12700">
            <a:solidFill>
              <a:srgbClr val="2B5F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51755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4928616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survive a free tier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5294376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C5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fall through gemini-3.6 → 3.7 → 3.5 → 3.8-flash on quota or overload, and record which model answered.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80960" y="1828800"/>
            <a:ext cx="3977640" cy="4297680"/>
          </a:xfrm>
          <a:prstGeom prst="rect">
            <a:avLst/>
          </a:prstGeom>
          <a:solidFill>
            <a:srgbClr val="191C1F"/>
          </a:solidFill>
          <a:ln w="9525">
            <a:solidFill>
              <a:srgbClr val="DDD5C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001000" y="205740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4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Deliberately no model here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001000" y="2606040"/>
            <a:ext cx="33832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8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Physics, not a learned model — a state being named must be able to re-run it offline and get the same answer.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91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Sealing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8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and a Merkle tree. A certificate that depended on a hosted model could not be reproduced.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357055" y="64465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PRAMĀNA  · 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91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PROOF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certificate the accused state can re-run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4206240" cy="566928"/>
          </a:xfrm>
          <a:prstGeom prst="rect">
            <a:avLst/>
          </a:prstGeom>
          <a:solidFill>
            <a:srgbClr val="242A2F"/>
          </a:solidFill>
          <a:ln w="9525">
            <a:solidFill>
              <a:srgbClr val="3A414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965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FIRMS active fire detections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2199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sha256 of the exact data consumed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670048"/>
            <a:ext cx="4206240" cy="566928"/>
          </a:xfrm>
          <a:prstGeom prst="rect">
            <a:avLst/>
          </a:prstGeom>
          <a:solidFill>
            <a:srgbClr val="242A2F"/>
          </a:solidFill>
          <a:ln w="9525">
            <a:solidFill>
              <a:srgbClr val="3A414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7157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925 hPa wind field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97180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sha256 of the exact data consumed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3419856"/>
            <a:ext cx="4206240" cy="566928"/>
          </a:xfrm>
          <a:prstGeom prst="rect">
            <a:avLst/>
          </a:prstGeom>
          <a:solidFill>
            <a:srgbClr val="242A2F"/>
          </a:solidFill>
          <a:ln w="9525">
            <a:solidFill>
              <a:srgbClr val="3A414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4655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CPCB receptor network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72160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sha256 of the exact data consumed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4169664"/>
            <a:ext cx="4206240" cy="566928"/>
          </a:xfrm>
          <a:prstGeom prst="rect">
            <a:avLst/>
          </a:prstGeom>
          <a:solidFill>
            <a:srgbClr val="242A2F"/>
          </a:solidFill>
          <a:ln w="9525">
            <a:solidFill>
              <a:srgbClr val="3A414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2153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 register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447141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sha256 of the exact data consumed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4919472"/>
            <a:ext cx="4206240" cy="566928"/>
          </a:xfrm>
          <a:prstGeom prst="rect">
            <a:avLst/>
          </a:prstGeom>
          <a:solidFill>
            <a:srgbClr val="242A2F"/>
          </a:solidFill>
          <a:ln w="9525">
            <a:solidFill>
              <a:srgbClr val="3A414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9651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configuration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522122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sha256 of the exact data consumed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983480" y="3429000"/>
            <a:ext cx="640080" cy="411480"/>
          </a:xfrm>
          <a:prstGeom prst="rightArrow">
            <a:avLst/>
          </a:prstGeom>
          <a:solidFill>
            <a:srgbClr val="C9A45C"/>
          </a:solidFill>
          <a:ln w="12700">
            <a:solidFill>
              <a:srgbClr val="C9A4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897880" y="1920240"/>
            <a:ext cx="5760720" cy="3566160"/>
          </a:xfrm>
          <a:prstGeom prst="rect">
            <a:avLst/>
          </a:prstGeom>
          <a:solidFill>
            <a:srgbClr val="242A2F"/>
          </a:solidFill>
          <a:ln w="12700">
            <a:solidFill>
              <a:srgbClr val="C9A45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0" y="21031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Merkle root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246888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6e7dbed47171597de5faf46b952830f3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2e104222545926c088dd0b2d1527ccbc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338328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8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Recomputed in the browser: root reproduced, all 5 inputs and every internal node match.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8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inputs → same id and root. Change one input and the leaf that moved says which.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8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PRM-CERT-20260915-E-F938C03B9E is carried on both the advisory and the notice.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357055" y="64465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PRAMĀNA  · 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61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IT SERVES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91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users, one chain of evidence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4924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148840"/>
            <a:ext cx="685800" cy="685800"/>
          </a:xfrm>
          <a:prstGeom prst="ellipse">
            <a:avLst/>
          </a:prstGeom>
          <a:solidFill>
            <a:srgbClr val="2B5F68"/>
          </a:solidFill>
          <a:ln w="12700">
            <a:solidFill>
              <a:srgbClr val="2B5F6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210312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Air quality commissions and state pollution boards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737360" y="283464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C5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contribution register by tehsil, and a cross-state notice that leads with a verifiable certificate instead of an accusation.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72200" y="1828800"/>
            <a:ext cx="534924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46520" y="2148840"/>
            <a:ext cx="685800" cy="685800"/>
          </a:xfrm>
          <a:prstGeom prst="ellipse">
            <a:avLst/>
          </a:prstGeom>
          <a:solidFill>
            <a:srgbClr val="8A6114"/>
          </a:solidFill>
          <a:ln w="12700">
            <a:solidFill>
              <a:srgbClr val="8A611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46520" y="21488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360920" y="210312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District magistrates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360920" y="283464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C5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advisory tied to the live CPCB reading and GRAP stage, with actions ordered by exposure averted.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69080"/>
            <a:ext cx="534924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4389120"/>
            <a:ext cx="685800" cy="685800"/>
          </a:xfrm>
          <a:prstGeom prst="ellipse">
            <a:avLst/>
          </a:prstGeom>
          <a:solidFill>
            <a:srgbClr val="B8391F"/>
          </a:solidFill>
          <a:ln w="12700">
            <a:solidFill>
              <a:srgbClr val="B8391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389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737360" y="434340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Citizens along the corridor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737360" y="507492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C5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Warnings in 12 Indian languages, read aloud; report the sky with a phone photo; one report cannot move the register alone.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172200" y="4069080"/>
            <a:ext cx="534924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46520" y="4389120"/>
            <a:ext cx="685800" cy="685800"/>
          </a:xfrm>
          <a:prstGeom prst="ellipse">
            <a:avLst/>
          </a:prstGeom>
          <a:solidFill>
            <a:srgbClr val="191C1F"/>
          </a:solidFill>
          <a:ln w="12700">
            <a:solidFill>
              <a:srgbClr val="191C1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46520" y="4389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360920" y="434340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Courts and tribunals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360920" y="507492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C5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that either side can recompute, with the model's limitations printed next to its numbers.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357055" y="64465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PRAMĀNA  · 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61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DEPLOYABLE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91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Pilot-ready on public data and existing infrastructure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02920" cy="502920"/>
          </a:xfrm>
          <a:prstGeom prst="ellipse">
            <a:avLst/>
          </a:prstGeom>
          <a:solidFill>
            <a:srgbClr val="2B5F68"/>
          </a:solidFill>
          <a:ln w="12700">
            <a:solidFill>
              <a:srgbClr val="2B5F6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783080"/>
            <a:ext cx="6309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hardware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167128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C5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networks India already operates — CPCB stations, NASA FIRMS satellites, public weather models — plus phones people already carry.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990088"/>
            <a:ext cx="502920" cy="502920"/>
          </a:xfrm>
          <a:prstGeom prst="ellipse">
            <a:avLst/>
          </a:prstGeom>
          <a:solidFill>
            <a:srgbClr val="2B5F68"/>
          </a:solidFill>
          <a:ln w="12700">
            <a:solidFill>
              <a:srgbClr val="2B5F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9900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898648"/>
            <a:ext cx="6309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zero keys, goes live one key at a time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3282696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C5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capability checks for its key at call time. Without one it serves recorded output and says so on screen — nothing silently fakes a result.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105656"/>
            <a:ext cx="502920" cy="502920"/>
          </a:xfrm>
          <a:prstGeom prst="ellipse">
            <a:avLst/>
          </a:prstGeom>
          <a:solidFill>
            <a:srgbClr val="2B5F68"/>
          </a:solidFill>
          <a:ln w="12700">
            <a:solidFill>
              <a:srgbClr val="2B5F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1056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4014216"/>
            <a:ext cx="6309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deployment forms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4398264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C5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web deployment today, and a Cloud Run container that authenticates to Vertex AI as a service account — no key material in a government environment.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221224"/>
            <a:ext cx="502920" cy="502920"/>
          </a:xfrm>
          <a:prstGeom prst="ellipse">
            <a:avLst/>
          </a:prstGeom>
          <a:solidFill>
            <a:srgbClr val="2B5F68"/>
          </a:solidFill>
          <a:ln w="12700">
            <a:solidFill>
              <a:srgbClr val="2B5F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212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5129784"/>
            <a:ext cx="6309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human signs what crosses a border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5513832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C5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Notices are drafted, never auto-sent. Dispatch is an officer's decision.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909560" y="1828800"/>
            <a:ext cx="3749040" cy="42976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183880" y="20116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on the demo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183880" y="2642616"/>
            <a:ext cx="182880" cy="182880"/>
          </a:xfrm>
          <a:prstGeom prst="ellipse">
            <a:avLst/>
          </a:prstGeom>
          <a:solidFill>
            <a:srgbClr val="2B5F68"/>
          </a:solidFill>
          <a:ln w="12700">
            <a:solidFill>
              <a:srgbClr val="2B5F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503920" y="25603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91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vision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607040" y="2560320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B5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183880" y="3118104"/>
            <a:ext cx="182880" cy="182880"/>
          </a:xfrm>
          <a:prstGeom prst="ellipse">
            <a:avLst/>
          </a:prstGeom>
          <a:solidFill>
            <a:srgbClr val="2B5F68"/>
          </a:solidFill>
          <a:ln w="12700">
            <a:solidFill>
              <a:srgbClr val="2B5F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03920" y="303580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91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reasoning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0607040" y="3035808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B5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183880" y="3593592"/>
            <a:ext cx="182880" cy="182880"/>
          </a:xfrm>
          <a:prstGeom prst="ellipse">
            <a:avLst/>
          </a:prstGeom>
          <a:solidFill>
            <a:srgbClr val="2B5F68"/>
          </a:solidFill>
          <a:ln w="12700">
            <a:solidFill>
              <a:srgbClr val="2B5F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503920" y="351129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91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CPCB via data.gov.in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10607040" y="3511296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B5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83880" y="4069080"/>
            <a:ext cx="182880" cy="182880"/>
          </a:xfrm>
          <a:prstGeom prst="ellipse">
            <a:avLst/>
          </a:prstGeom>
          <a:solidFill>
            <a:srgbClr val="2B5F68"/>
          </a:solidFill>
          <a:ln w="12700">
            <a:solidFill>
              <a:srgbClr val="2B5F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503920" y="398678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91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 FIRMS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0607040" y="3986784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B5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183880" y="4544568"/>
            <a:ext cx="182880" cy="182880"/>
          </a:xfrm>
          <a:prstGeom prst="ellipse">
            <a:avLst/>
          </a:prstGeom>
          <a:solidFill>
            <a:srgbClr val="2B5F68"/>
          </a:solidFill>
          <a:ln w="12700">
            <a:solidFill>
              <a:srgbClr val="2B5F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503920" y="446227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91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 925 hPa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10607040" y="4462272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B5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183880" y="5020056"/>
            <a:ext cx="182880" cy="182880"/>
          </a:xfrm>
          <a:prstGeom prst="ellipse">
            <a:avLst/>
          </a:prstGeom>
          <a:solidFill>
            <a:srgbClr val="C9BFA8"/>
          </a:solidFill>
          <a:ln w="12700">
            <a:solidFill>
              <a:srgbClr val="C9BFA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503920" y="493776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91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 / TTS / STT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10607040" y="4937760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wired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183880" y="5495544"/>
            <a:ext cx="182880" cy="182880"/>
          </a:xfrm>
          <a:prstGeom prst="ellipse">
            <a:avLst/>
          </a:prstGeom>
          <a:solidFill>
            <a:srgbClr val="C9BFA8"/>
          </a:solidFill>
          <a:ln w="12700">
            <a:solidFill>
              <a:srgbClr val="C9BFA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503920" y="541324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91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Platform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10607040" y="5413248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wired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9357055" y="64465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PRAMĀNA  · 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61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SCALES ACROSS INDIA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91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corridor is configuration, not a rebuild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6583680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93976"/>
            <a:ext cx="548640" cy="548640"/>
          </a:xfrm>
          <a:prstGeom prst="ellipse">
            <a:avLst/>
          </a:prstGeom>
          <a:solidFill>
            <a:srgbClr val="2B5F68"/>
          </a:solidFill>
          <a:ln w="12700">
            <a:solidFill>
              <a:srgbClr val="2B5F6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0939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200253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Punjab → Delhi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200253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91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running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840480" y="2377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Stubble smoke, post-monsoon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6583680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77240" y="3282696"/>
            <a:ext cx="548640" cy="548640"/>
          </a:xfrm>
          <a:prstGeom prst="ellipse">
            <a:avLst/>
          </a:prstGeom>
          <a:solidFill>
            <a:srgbClr val="8A6114"/>
          </a:solidFill>
          <a:ln w="12700">
            <a:solidFill>
              <a:srgbClr val="8A611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2826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319125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receptor city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319125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91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receptor, a bounding box and its languages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840480" y="35661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engine, same certificate format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251960"/>
            <a:ext cx="6583680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77240" y="4471416"/>
            <a:ext cx="548640" cy="548640"/>
          </a:xfrm>
          <a:prstGeom prst="ellipse">
            <a:avLst/>
          </a:prstGeom>
          <a:solidFill>
            <a:srgbClr val="B8391F"/>
          </a:solidFill>
          <a:ln w="12700">
            <a:solidFill>
              <a:srgbClr val="B83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7240" y="44714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437997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nodes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3840480" y="437997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91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state runs its own instance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3840480" y="4754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sealed certificates, not raw data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543800" y="1783080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B5F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4400" dirty="0"/>
          </a:p>
        </p:txBody>
      </p:sp>
      <p:sp>
        <p:nvSpPr>
          <p:cNvPr id="23" name="Text 21"/>
          <p:cNvSpPr txBox="1"/>
          <p:nvPr/>
        </p:nvSpPr>
        <p:spPr>
          <a:xfrm>
            <a:off x="8915400" y="18928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 served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8915400" y="22585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C5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human-reviewed, 8 machine-translated and labelled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543800" y="3264408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8A61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400" dirty="0"/>
          </a:p>
        </p:txBody>
      </p:sp>
      <p:sp>
        <p:nvSpPr>
          <p:cNvPr id="26" name="Text 24"/>
          <p:cNvSpPr txBox="1"/>
          <p:nvPr/>
        </p:nvSpPr>
        <p:spPr>
          <a:xfrm>
            <a:off x="8915400" y="337413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aggregation levels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915400" y="373989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C5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→ tehsil → district → state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543800" y="4745736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83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29" name="Text 27"/>
          <p:cNvSpPr txBox="1"/>
          <p:nvPr/>
        </p:nvSpPr>
        <p:spPr>
          <a:xfrm>
            <a:off x="8915400" y="485546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sensors needed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8915400" y="522122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C5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public networks only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55778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C5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design extends beyond India: the certificate format is what lets neighbouring jurisdictions share a finding without sharing their raw monitoring data.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9357055" y="64465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PRAMĀNA  · 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91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working prototype to a pilot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02920" cy="502920"/>
          </a:xfrm>
          <a:prstGeom prst="ellipse">
            <a:avLst/>
          </a:prstGeom>
          <a:solidFill>
            <a:srgbClr val="2B5F68"/>
          </a:solidFill>
          <a:ln w="12700">
            <a:solidFill>
              <a:srgbClr val="2B5F6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74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190195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8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the transport model against past CPCB episodes and publish where it is wrong.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852928"/>
            <a:ext cx="502920" cy="502920"/>
          </a:xfrm>
          <a:prstGeom prst="ellipse">
            <a:avLst/>
          </a:prstGeom>
          <a:solidFill>
            <a:srgbClr val="8A6114"/>
          </a:solidFill>
          <a:ln w="12700">
            <a:solidFill>
              <a:srgbClr val="8A611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8529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80720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Deepen inputs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283464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8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TROPOMI columns via Earth Engine for industrial and urban sources.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785616"/>
            <a:ext cx="502920" cy="502920"/>
          </a:xfrm>
          <a:prstGeom prst="ellipse">
            <a:avLst/>
          </a:prstGeom>
          <a:solidFill>
            <a:srgbClr val="B8391F"/>
          </a:solidFill>
          <a:ln w="12700">
            <a:solidFill>
              <a:srgbClr val="B8391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7856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739896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3291840" y="376732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8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the citizen register to Firestore and archive certificates in BigQuery.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718304"/>
            <a:ext cx="502920" cy="502920"/>
          </a:xfrm>
          <a:prstGeom prst="ellipse">
            <a:avLst/>
          </a:prstGeom>
          <a:solidFill>
            <a:srgbClr val="5A6570"/>
          </a:solidFill>
          <a:ln w="12700">
            <a:solidFill>
              <a:srgbClr val="5A657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7183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672584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291840" y="4700016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8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state health departments sign off the eight machine-translated languages.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955280" y="1874520"/>
            <a:ext cx="3703320" cy="3657600"/>
          </a:xfrm>
          <a:prstGeom prst="rect">
            <a:avLst/>
          </a:prstGeom>
          <a:solidFill>
            <a:srgbClr val="242A2F"/>
          </a:solidFill>
          <a:ln w="9525">
            <a:solidFill>
              <a:srgbClr val="3A414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75320" y="21031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4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8275320" y="269748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8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[add Vercel URL]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91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8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github.com/Arya-Patil686/pramana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8064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dashboard that shows pollution — an instrument that settles who owns it.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9357055" y="64465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PRAMĀNA  ·  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PRAMĀNA — proof of whose air it is</dc:title>
  <dc:subject>PptxGenJS Presentation</dc:subject>
  <dc:creator>PptxGenJS</dc:creator>
  <cp:lastModifiedBy>PptxGenJS</cp:lastModifiedBy>
  <cp:revision>1</cp:revision>
  <dcterms:created xsi:type="dcterms:W3CDTF">2026-09-15T19:50:38Z</dcterms:created>
  <dcterms:modified xsi:type="dcterms:W3CDTF">2026-09-15T19:50:38Z</dcterms:modified>
</cp:coreProperties>
</file>